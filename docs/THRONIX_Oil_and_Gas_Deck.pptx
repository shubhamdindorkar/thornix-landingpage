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9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OASIS (design target)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GCC Desert Resilience</c:v>
                </c:pt>
                <c:pt idx="1">
                  <c:v>High H₂S / Sour Safety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9.6</c:v>
                </c:pt>
                <c:pt idx="1">
                  <c:v>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D0-4CEC-8EE2-CF7367DB11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competitor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GCC Desert Resilience</c:v>
                </c:pt>
                <c:pt idx="1">
                  <c:v>High H₂S / Sour Safety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8.9</c:v>
                </c:pt>
                <c:pt idx="1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D0-4CEC-8EE2-CF7367DB11F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Category average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GCC Desert Resilience</c:v>
                </c:pt>
                <c:pt idx="1">
                  <c:v>High H₂S / Sour Safety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8.58</c:v>
                </c:pt>
                <c:pt idx="1">
                  <c:v>8.7799999999999994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9D0-4CEC-8EE2-CF7367DB11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OASIS v3.9</c:v>
                </c:pt>
              </c:strCache>
            </c:strRef>
          </c:tx>
          <c:spPr>
            <a:ln w="25400" cap="flat">
              <a:solidFill>
                <a:srgbClr val="2DD4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D4BF"/>
              </a:solidFill>
              <a:ln w="9525" cap="flat">
                <a:solidFill>
                  <a:srgbClr val="2DD4B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GCC Desert
Resilience</c:v>
                </c:pt>
                <c:pt idx="1">
                  <c:v>H₂S / Sour
Safety</c:v>
                </c:pt>
                <c:pt idx="2">
                  <c:v>State
Awareness</c:v>
                </c:pt>
                <c:pt idx="3">
                  <c:v>Drift
Handling</c:v>
                </c:pt>
                <c:pt idx="4">
                  <c:v>Sabotage /
Threats</c:v>
                </c:pt>
                <c:pt idx="5">
                  <c:v>Operator
Trust</c:v>
                </c:pt>
                <c:pt idx="6">
                  <c:v>Predictive
Maturity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9.6</c:v>
                </c:pt>
                <c:pt idx="1">
                  <c:v>9.6</c:v>
                </c:pt>
                <c:pt idx="2">
                  <c:v>9.1999999999999993</c:v>
                </c:pt>
                <c:pt idx="3">
                  <c:v>9.1999999999999993</c:v>
                </c:pt>
                <c:pt idx="4">
                  <c:v>9.1</c:v>
                </c:pt>
                <c:pt idx="5">
                  <c:v>8.8000000000000007</c:v>
                </c:pt>
                <c:pt idx="6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3-4923-A321-CEC5FDA857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SLB DELFI</c:v>
                </c:pt>
              </c:strCache>
            </c:strRef>
          </c:tx>
          <c:spPr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GCC Desert
Resilience</c:v>
                </c:pt>
                <c:pt idx="1">
                  <c:v>H₂S / Sour
Safety</c:v>
                </c:pt>
                <c:pt idx="2">
                  <c:v>State
Awareness</c:v>
                </c:pt>
                <c:pt idx="3">
                  <c:v>Drift
Handling</c:v>
                </c:pt>
                <c:pt idx="4">
                  <c:v>Sabotage /
Threats</c:v>
                </c:pt>
                <c:pt idx="5">
                  <c:v>Operator
Trust</c:v>
                </c:pt>
                <c:pt idx="6">
                  <c:v>Predictive
Maturity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8.6999999999999993</c:v>
                </c:pt>
                <c:pt idx="1">
                  <c:v>8.8000000000000007</c:v>
                </c:pt>
                <c:pt idx="2">
                  <c:v>9.4</c:v>
                </c:pt>
                <c:pt idx="3">
                  <c:v>9.4</c:v>
                </c:pt>
                <c:pt idx="4">
                  <c:v>8.6999999999999993</c:v>
                </c:pt>
                <c:pt idx="5">
                  <c:v>9.1</c:v>
                </c:pt>
                <c:pt idx="6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B3-4923-A321-CEC5FDA857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Aramco Digital</c:v>
                </c:pt>
              </c:strCache>
            </c:strRef>
          </c:tx>
          <c:spPr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GCC Desert
Resilience</c:v>
                </c:pt>
                <c:pt idx="1">
                  <c:v>H₂S / Sour
Safety</c:v>
                </c:pt>
                <c:pt idx="2">
                  <c:v>State
Awareness</c:v>
                </c:pt>
                <c:pt idx="3">
                  <c:v>Drift
Handling</c:v>
                </c:pt>
                <c:pt idx="4">
                  <c:v>Sabotage /
Threats</c:v>
                </c:pt>
                <c:pt idx="5">
                  <c:v>Operator
Trust</c:v>
                </c:pt>
                <c:pt idx="6">
                  <c:v>Predictive
Maturity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8.9</c:v>
                </c:pt>
                <c:pt idx="1">
                  <c:v>9.5</c:v>
                </c:pt>
                <c:pt idx="2">
                  <c:v>8.9</c:v>
                </c:pt>
                <c:pt idx="3">
                  <c:v>9.1999999999999993</c:v>
                </c:pt>
                <c:pt idx="4">
                  <c:v>9.4</c:v>
                </c:pt>
                <c:pt idx="5">
                  <c:v>8.6</c:v>
                </c:pt>
                <c:pt idx="6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B3-4923-A321-CEC5FDA85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F3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Sensor reuse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14-4661-BF4F-3349E63CC56B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14-4661-BF4F-3349E63CC56B}"/>
              </c:ext>
            </c:extLst>
          </c:dPt>
          <c:cat>
            <c:strRef>
              <c:f>Sheet1!$A$2:$A$3</c:f>
              <c:strCache>
                <c:ptCount val="2"/>
                <c:pt idx="0">
                  <c:v>Phase-agnostic (reusable across oil, gas, water)</c:v>
                </c:pt>
                <c:pt idx="1">
                  <c:v>Needs a dedicated phase sensor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14-4661-BF4F-3349E63CC5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739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01848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11294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THRONIX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SURVEILLANCE INTELLIGENCE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wells safe when the desert turns hostile.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safety-first intelligence layer for ~4,000-well oil &amp; gas fields — built for Shamal dust, 50 °C heat, sour H₂S, sand, and the moments sensors lie.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Middle East / Africa  ·  Operations Grade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hardest place on earth to keep a well honest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oil &amp; gas fields run thousands of wells through conditions that break ordinary monitoring systems.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3591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Shamal dust storms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40–60+ km/h winds, sub-200 m visibility — sensors degrade, comms drop.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3756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2148840"/>
            <a:ext cx="868680" cy="8686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235915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heat &amp; sour gas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794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°C heat kills gas detectors; high H₂S means errors cost lives.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2148840"/>
            <a:ext cx="868680" cy="8686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35915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&amp; water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3794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 erodes equipment; water and gas come up mixed with the oil.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15400" y="18288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2148840"/>
            <a:ext cx="868680" cy="8686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5752" y="2359152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that lie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0" y="3794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of sensors can be suspect at once — most 'alarms' are bad data, not bad wells.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intelligence layer: raw signals in, ranked decisions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1129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228600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4871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200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" y="36118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Pressures, temps, H₂S, sand, pump health, weather — every 3–5 s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324" y="3200400"/>
            <a:ext cx="146304" cy="1463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52344" y="201168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11294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3280" y="228600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2487168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52344" y="3200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916936" y="36118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spikes, frozen &amp; stale sensors before trusting anything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748" y="3200400"/>
            <a:ext cx="146304" cy="14630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01768" y="201168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1129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632704" y="228600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2487168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01768" y="3200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166360" y="36118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state + estimate the unmeasured oil/water/gas split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2" y="3200400"/>
            <a:ext cx="146304" cy="14630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251192" y="201168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11294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7882128" y="228600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152" y="2487168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251192" y="3200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7415784" y="36118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danger, cross-check neighbours, prevent alarm floods</a:t>
            </a:r>
            <a:endParaRPr lang="en-US" sz="11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3200400"/>
            <a:ext cx="146304" cy="146304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9500616" y="2011680"/>
            <a:ext cx="2084832" cy="2743200"/>
          </a:xfrm>
          <a:prstGeom prst="roundRect">
            <a:avLst>
              <a:gd name="adj" fmla="val 3509"/>
            </a:avLst>
          </a:prstGeom>
          <a:solidFill>
            <a:srgbClr val="11294D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10131552" y="228600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3576" y="2487168"/>
            <a:ext cx="438912" cy="43891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500616" y="320040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31" name="Text 20"/>
          <p:cNvSpPr/>
          <p:nvPr/>
        </p:nvSpPr>
        <p:spPr>
          <a:xfrm>
            <a:off x="9665208" y="361188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explained, actionable alerts + recommendations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honest about how sure it is — and never overrides a human on anything dangerous.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THRONIX is built to lead: safety &amp; resilience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deepest design investment is the part that matters most in GCC fields — and the part most platforms treat as an afterthought.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5836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8288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1984248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7532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never suppressed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275320" y="217627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Life-safety gas alarms fire through any failure, with wind-plume guidance to safe muster points.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498080" y="3035808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3191256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532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Degrades, never blinds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275320" y="33832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→ DEGRADED → SURVIVAL modes keep working at 50% sensor loss instead of going dark.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498080" y="4242816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439826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75320" y="4224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trust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75320" y="459028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5-sample filter + sanity gate means a single bad reading never triggers a false shutdown.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profile vs the field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Design-target self-assessment across the dimensions that decide GCC operations.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097280" y="1554480"/>
          <a:ext cx="6675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edge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0" y="22860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under degradation, sour-service safety, antifragile recovery.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edge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3657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ML maturity, digital-twin integration, decades of field data.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4663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5029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leads on design philosophy; incumbents lead because theirs are deployed and measured.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benchmarking (GCC / UAE)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704320" cy="427939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THRONIX v3.9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SLB DELFI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Halliburton iEnergy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 Hughes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Emerson/AVEVA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Aramco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Desert Resilience (Shamal/Heat/Sand)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H₂S / Sour Service 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&amp; Operational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&amp; Long-term Drift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Sabotage / Theft / Coordinated Threats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Trust / False Alarm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/ Prescriptive Maturity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7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GCC/UAE Regional 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5989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— design targets, not deployed measurements.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scores are informed estimates from public capability descriptions; THRONIX scores reflect framework design intent pending validation. 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become real only when the system runs.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THRONIX earns those marks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129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4708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039112"/>
            <a:ext cx="393192" cy="393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as architecture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22219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H₂S, integrity &amp; pressure alarms are constitutional — no learning loop, mode, or grace window can ever silence them.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1294D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84708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2039112"/>
            <a:ext cx="393192" cy="39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Antifragile by design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06640" y="22219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degradation modes, edge survival during comms loss, and a SAFE CORE that runs whole even when everything else is pruned.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1294D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67588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867912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6393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Fleet-aware reasoning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0507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Cross-well graph intelligence separates a real well event from weather, a manifold problem, or coordinated sabotage.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338328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11294D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3675888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3867912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6393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intelligence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06640" y="405079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 on every output, counterfactual explanations, and a human signature on every irreversible action.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and gas come up the same pipe — so we watch both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sensor suite already serves every phase. Gas leaves its own fingerprint on pressure &amp; temperature; only oil-vs-water separation needs a dedicated meter.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920240"/>
          <a:ext cx="4572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600200" y="3246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7C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60020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20116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21671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1993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— already covered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29400" y="2377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temperature &amp; choke carry the gas signal; gas flow tracks oil × GOR with no new hardware.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52160" y="33832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608" y="35387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9400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— one sensor away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629400" y="3749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can't tell oil from water; a water-cut meter unlocks the split cleanly.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852160" y="47548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608" y="49103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29400" y="47365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Sour-gas safety scales up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62940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Gas-heavy wells are often sourer — H₂S logic matters more, and it's already first-class.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— and the path to proof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design-validated specification. The next milestone turns design targets into measured results.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1294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28600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47802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complete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safety, degradation, fleet &amp; intelligence spec — validated against critique.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1294D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70248" y="228600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47802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38728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validation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57016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triggers on labelled datasets → first measured precision, recall &amp; lead-time.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63056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1294D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77456" y="228600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478024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63056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45936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pilots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364224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wells, sour + sweet mix; measure false-alarm rate &amp; operator trust.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70264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1294D"/>
          </a:solidFill>
          <a:ln w="12700">
            <a:solidFill>
              <a:srgbClr val="13294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84664" y="2286000"/>
            <a:ext cx="777240" cy="7772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688" y="2478024"/>
            <a:ext cx="393192" cy="393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70264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53144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deployment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171432" y="41605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SCADA/ESD integration on the certified safety path; fleet rollout.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claim measured superiority we haven't earned. We claim the strongest safety-first design — and a clear, fast path to prove it.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194560"/>
            <a:ext cx="5029200" cy="5029200"/>
          </a:xfrm>
          <a:prstGeom prst="ellipse">
            <a:avLst/>
          </a:prstGeom>
          <a:solidFill>
            <a:srgbClr val="1129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the worst day in the field.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run THRONIX against your toughest well data and show you the numbers — honestly.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pilot conversation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THRONIX — Oil &amp; Gas Surveillance Intelligence System  ·  GCC / Middle East / Africa Operations Grade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1032</Words>
  <Application>Microsoft Office PowerPoint</Application>
  <PresentationFormat>Widescreen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OASIS Oil &amp; Gas Intelligence</dc:title>
  <dc:subject>PptxGenJS Presentation</dc:subject>
  <dc:creator>OASIS</dc:creator>
  <cp:lastModifiedBy>Pooja Suryavanshi</cp:lastModifiedBy>
  <cp:revision>3</cp:revision>
  <dcterms:created xsi:type="dcterms:W3CDTF">2026-06-10T14:05:34Z</dcterms:created>
  <dcterms:modified xsi:type="dcterms:W3CDTF">2026-06-21T14:18:55Z</dcterms:modified>
</cp:coreProperties>
</file>